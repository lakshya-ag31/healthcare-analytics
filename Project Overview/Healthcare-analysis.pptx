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 Bold"/>
      <p:regular r:id="rId201316"/>
    </p:embeddedFont>
    <p:embeddedFont>
      <p:font typeface="Open Sans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4.png"/><Relationship Id="rId7" Type="http://schemas.openxmlformats.org/officeDocument/2006/relationships/image" Target="../media/image-5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7395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Healthcare Operations &amp; Financial Performance: What Does the Data Reveal?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3155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Hospital management needs a clear view of patient demand, hospital stay patterns, billing performance, and data-quality issues to support better operational and financial decisions.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3146822"/>
            <a:ext cx="3554423" cy="1531739"/>
          </a:xfrm>
          <a:prstGeom prst="roundRect">
            <a:avLst>
              <a:gd name="adj" fmla="val 1620"/>
            </a:avLst>
          </a:prstGeom>
          <a:solidFill>
            <a:srgbClr val="003366"/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3312120"/>
            <a:ext cx="32238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Scale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3735884"/>
            <a:ext cx="322383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55,500 patient records analyzed across a 5-year period (May 2019 – May 2024)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7542" y="3312120"/>
            <a:ext cx="33163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Scope of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7542" y="3735884"/>
            <a:ext cx="331630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Patient demand, billing patterns, Length of Stay, and data quality — examined across 15 variables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13609" y="3312120"/>
            <a:ext cx="342911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Audience &amp; Purpose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13609" y="3735884"/>
            <a:ext cx="342911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Senior management decision-support: operational planning, financial oversight, and data governance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4864596"/>
            <a:ext cx="10868745" cy="925909"/>
          </a:xfrm>
          <a:prstGeom prst="roundRect">
            <a:avLst>
              <a:gd name="adj" fmla="val 2679"/>
            </a:avLst>
          </a:prstGeom>
          <a:solidFill>
            <a:srgbClr val="D7D6F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104309"/>
            <a:ext cx="206667" cy="16529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98731" y="5071170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presentation communicates findings in plain business language. All statistics are drawn directly from the dataset. No causal claims are made where the data does not support them.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0360"/>
            <a:ext cx="10868745" cy="460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Used &amp; How We Analyzed It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63762"/>
            <a:ext cx="5254692" cy="11396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3959" y="1471315"/>
            <a:ext cx="4845921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03959" y="1832670"/>
            <a:ext cx="4845921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55,500 patient records across </a:t>
            </a:r>
            <a:pPr algn="l" indent="0" marL="0">
              <a:lnSpc>
                <a:spcPct val="126000"/>
              </a:lnSpc>
              <a:buNone/>
            </a:pPr>
            <a:r>
              <a:rPr lang="en-US" sz="11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15 variables</a:t>
            </a:r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spanning May 2019 to May 2024. No missing values were identified in the raw data.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34555"/>
            <a:ext cx="5254692" cy="11396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3959" y="2742109"/>
            <a:ext cx="4845921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Quality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03959" y="3103463"/>
            <a:ext cx="4845921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534 exact duplicate records</a:t>
            </a:r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were identified and removed prior to analysis, ensuring each patient encounter is counted once.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05349"/>
            <a:ext cx="5254692" cy="11396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3959" y="4012902"/>
            <a:ext cx="4845921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Preparation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903959" y="4374257"/>
            <a:ext cx="4845921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Dates and categories were standardized. Three derived metrics were created: </a:t>
            </a:r>
            <a:pPr algn="l" indent="0" marL="0">
              <a:lnSpc>
                <a:spcPct val="126000"/>
              </a:lnSpc>
              <a:buNone/>
            </a:pPr>
            <a:r>
              <a:rPr lang="en-US" sz="11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Length of Stay</a:t>
            </a:r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26000"/>
              </a:lnSpc>
              <a:buNone/>
            </a:pPr>
            <a:r>
              <a:rPr lang="en-US" sz="11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Age Group</a:t>
            </a:r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pPr algn="l" indent="0" marL="0">
              <a:lnSpc>
                <a:spcPct val="126000"/>
              </a:lnSpc>
              <a:buNone/>
            </a:pPr>
            <a:r>
              <a:rPr lang="en-US" sz="11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Stay Category</a:t>
            </a:r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281878" y="1288653"/>
            <a:ext cx="525469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Analytical Workflow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281878" y="1666379"/>
            <a:ext cx="294573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281878" y="1897559"/>
            <a:ext cx="5254692" cy="1905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15" name="Text 10"/>
          <p:cNvSpPr/>
          <p:nvPr/>
        </p:nvSpPr>
        <p:spPr>
          <a:xfrm>
            <a:off x="6281878" y="2009279"/>
            <a:ext cx="525469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281878" y="2370634"/>
            <a:ext cx="525469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 duplicates, confirm completeness, flag anomalies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281878" y="2835077"/>
            <a:ext cx="294573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81878" y="3051572"/>
            <a:ext cx="5254692" cy="1905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19" name="Text 14"/>
          <p:cNvSpPr/>
          <p:nvPr/>
        </p:nvSpPr>
        <p:spPr>
          <a:xfrm>
            <a:off x="6281878" y="3177977"/>
            <a:ext cx="525469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Prepare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81878" y="3539331"/>
            <a:ext cx="525469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 formats, engineer derived variables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281878" y="4003774"/>
            <a:ext cx="294573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81878" y="4205585"/>
            <a:ext cx="5254692" cy="1905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23" name="Text 18"/>
          <p:cNvSpPr/>
          <p:nvPr/>
        </p:nvSpPr>
        <p:spPr>
          <a:xfrm>
            <a:off x="6281878" y="4346674"/>
            <a:ext cx="525469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Compare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281878" y="4708029"/>
            <a:ext cx="525469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Segment by condition, admission type, and billing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281878" y="5172472"/>
            <a:ext cx="294573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281878" y="5359598"/>
            <a:ext cx="5254692" cy="1905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27" name="Text 22"/>
          <p:cNvSpPr/>
          <p:nvPr/>
        </p:nvSpPr>
        <p:spPr>
          <a:xfrm>
            <a:off x="6281878" y="5515372"/>
            <a:ext cx="525469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Visualize &amp; Interpret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281878" y="5876727"/>
            <a:ext cx="525469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Surface patterns and translate findings into management language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968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Patient Demand Is Broadly Distributed Across All Conditions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05285"/>
            <a:ext cx="6932241" cy="4376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78278" y="1805285"/>
            <a:ext cx="3558193" cy="937816"/>
          </a:xfrm>
          <a:prstGeom prst="roundRect">
            <a:avLst>
              <a:gd name="adj" fmla="val 2480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8133254" y="1960265"/>
            <a:ext cx="324824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Highest Volume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33254" y="2347813"/>
            <a:ext cx="3248241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Arthritis —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9,218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records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978278" y="2888456"/>
            <a:ext cx="3558193" cy="937816"/>
          </a:xfrm>
          <a:prstGeom prst="roundRect">
            <a:avLst>
              <a:gd name="adj" fmla="val 2480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8133254" y="3043436"/>
            <a:ext cx="324824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Lowest Volume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33254" y="3430984"/>
            <a:ext cx="3248241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Asthma —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9,095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records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978278" y="3971627"/>
            <a:ext cx="3558193" cy="1178123"/>
          </a:xfrm>
          <a:prstGeom prst="roundRect">
            <a:avLst>
              <a:gd name="adj" fmla="val 1974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8133254" y="4126607"/>
            <a:ext cx="324824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Range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33254" y="4514155"/>
            <a:ext cx="3248241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123 patients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 1.3% difference across all six conditions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78278" y="5313263"/>
            <a:ext cx="3558193" cy="96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single medical condition dominates patient volume. Demand is effectively uniform, which has direct implications for staffing and resource allocation across service lines.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968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Average Billing Is Consistent Across Medical Conditions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05285"/>
            <a:ext cx="6932241" cy="4376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78278" y="1805285"/>
            <a:ext cx="3558193" cy="937816"/>
          </a:xfrm>
          <a:prstGeom prst="roundRect">
            <a:avLst>
              <a:gd name="adj" fmla="val 2480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8133254" y="1960265"/>
            <a:ext cx="324824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Highest Avg. Billing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33254" y="2347813"/>
            <a:ext cx="3248241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Obesity —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$25,804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978278" y="2888456"/>
            <a:ext cx="3558193" cy="937816"/>
          </a:xfrm>
          <a:prstGeom prst="roundRect">
            <a:avLst>
              <a:gd name="adj" fmla="val 2480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8133254" y="3043436"/>
            <a:ext cx="324824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Lowest Avg. Billing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33254" y="3430984"/>
            <a:ext cx="3248241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Cancer —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$25,152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978278" y="3971627"/>
            <a:ext cx="3558193" cy="1178123"/>
          </a:xfrm>
          <a:prstGeom prst="roundRect">
            <a:avLst>
              <a:gd name="adj" fmla="val 1974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8133254" y="4126607"/>
            <a:ext cx="324824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Range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33254" y="4514155"/>
            <a:ext cx="3248241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$652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 2.6% difference across all conditions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78278" y="5313263"/>
            <a:ext cx="3558193" cy="96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 impact is stable regardless of condition mix. Revenue projections are unlikely to shift materially based on changes in the condition distribution of admitted patients.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8511"/>
            <a:ext cx="10868745" cy="904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Unexpected Finding: Admission Type Does Not Meaningfully Change Length of Stay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05273"/>
            <a:ext cx="5818935" cy="39936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841305"/>
            <a:ext cx="5818935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difference between the longest and shortest average Length of Stay is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0.18 days — approximately 4.3 hours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This is not a meaningful operational distinction.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9771" y="1705273"/>
            <a:ext cx="4696700" cy="111422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79676" y="1868984"/>
            <a:ext cx="429308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Expectation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079676" y="2221607"/>
            <a:ext cx="4293088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Emergency admissions were expected to have noticeably longer hospital stays than elective or urgent cases.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39771" y="2946102"/>
            <a:ext cx="4696700" cy="133131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79676" y="3109813"/>
            <a:ext cx="429308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the Data Showed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7079676" y="3462437"/>
            <a:ext cx="4293088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three admission types cluster tightly between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15.40 and 15.58 days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Admission type alone is not a strong differentiator of Length of Stay.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39771" y="4404023"/>
            <a:ext cx="4696700" cy="133131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79676" y="4567734"/>
            <a:ext cx="429308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Limitation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7079676" y="4920357"/>
            <a:ext cx="4293088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dataset lacks clinical variables — severity, procedures, and complications — that are likely the true drivers of Length of Stay. Further investigation requires richer data.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6470"/>
            <a:ext cx="10868745" cy="100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Critical Data Quality Issue: 106 Negative Billing Records Require Validation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46086" y="1720552"/>
            <a:ext cx="4343688" cy="3597077"/>
          </a:xfrm>
          <a:prstGeom prst="roundRect">
            <a:avLst>
              <a:gd name="adj" fmla="val 668"/>
            </a:avLst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706221" y="1975148"/>
            <a:ext cx="4023418" cy="52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106</a:t>
            </a:r>
            <a:endParaRPr lang="en-US" sz="4150" dirty="0"/>
          </a:p>
        </p:txBody>
      </p:sp>
      <p:sp>
        <p:nvSpPr>
          <p:cNvPr id="5" name="Text 3"/>
          <p:cNvSpPr/>
          <p:nvPr/>
        </p:nvSpPr>
        <p:spPr>
          <a:xfrm>
            <a:off x="706221" y="2700338"/>
            <a:ext cx="4023418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Records Flagged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6221" y="3105845"/>
            <a:ext cx="4023418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Negative billing amounts identified in the dataset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6221" y="3532684"/>
            <a:ext cx="4023418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records represent a data integrity risk that must be resolved before any billing-based decisions are made.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71648" y="1895078"/>
            <a:ext cx="360453" cy="360462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9" name="Text 7"/>
          <p:cNvSpPr/>
          <p:nvPr/>
        </p:nvSpPr>
        <p:spPr>
          <a:xfrm>
            <a:off x="5231674" y="1925092"/>
            <a:ext cx="240302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5687275" y="1950145"/>
            <a:ext cx="2569801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Current Risk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687275" y="2355652"/>
            <a:ext cx="2569801" cy="12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106 negative billing records cannot be reliably used for financial reporting, revenue analysis, or operational decision-making in their current state.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51043" y="1895078"/>
            <a:ext cx="360453" cy="360462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8511069" y="1925092"/>
            <a:ext cx="240302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966670" y="1950145"/>
            <a:ext cx="2569801" cy="500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Immediate Action Required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966670" y="2605980"/>
            <a:ext cx="2569801" cy="12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Finance and Data/IT teams must validate and correct these records before any billing-based analysis is published or acted upon by management.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71648" y="4177903"/>
            <a:ext cx="360453" cy="360462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17" name="Text 15"/>
          <p:cNvSpPr/>
          <p:nvPr/>
        </p:nvSpPr>
        <p:spPr>
          <a:xfrm>
            <a:off x="5231674" y="4207917"/>
            <a:ext cx="240302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5687275" y="4232970"/>
            <a:ext cx="5849196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Path Forward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687275" y="4638477"/>
            <a:ext cx="5849196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Once resolved, the billing dataset will be suitable for resource planning, condition-level financial analysis, and insurance provider benchmarking.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1475" y="5492155"/>
            <a:ext cx="10868745" cy="879376"/>
          </a:xfrm>
          <a:prstGeom prst="roundRect">
            <a:avLst>
              <a:gd name="adj" fmla="val 2733"/>
            </a:avLst>
          </a:prstGeom>
          <a:solidFill>
            <a:srgbClr val="FCF2B5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610" y="5712222"/>
            <a:ext cx="200218" cy="16013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81963" y="5687318"/>
            <a:ext cx="10188122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Immediate action required: Do not use billing totals or averages in financial reports until the 106 negative records are reviewed and corrected.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7122"/>
            <a:ext cx="10868745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Three Actions for Management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07195"/>
            <a:ext cx="3532298" cy="3238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15212" y="1310580"/>
            <a:ext cx="224824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30341" y="1811734"/>
            <a:ext cx="3194565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Strengthen Billing Data Validation —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8B8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Highest Priority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30341" y="2361505"/>
            <a:ext cx="3194565" cy="1453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the 106 negative billing records and introduce automated validation checks before financial reporting. Establish a recurring data-quality audit cycle to prevent recurrence.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Owner: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Finance + Data/IT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9599" y="1207195"/>
            <a:ext cx="3532397" cy="32389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3336" y="1310580"/>
            <a:ext cx="224824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498466" y="1811734"/>
            <a:ext cx="3194665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Investigate Real Drivers of Length of Stay —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8B8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 Priority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498466" y="2361505"/>
            <a:ext cx="3194665" cy="1453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Admission type alone does not explain Length of Stay variation. Analyze against clinical and patient-level factors (severity, procedures, complications). Identify and collect additional variables where gaps exist.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Owner: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Operations + Clinical + Analytics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7823" y="1207195"/>
            <a:ext cx="3532298" cy="32389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51560" y="1310580"/>
            <a:ext cx="224824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166689" y="1811734"/>
            <a:ext cx="3194565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Combine Volume &amp; Billing for Resource Planning —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8B8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Medium Priority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8166689" y="2595662"/>
            <a:ext cx="3194565" cy="1681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Patient demand and billing are both stable across conditions — use this as a baseline to monitor shifts over time. Track by medical condition and insurance provider to inform staffing and capacity decisions.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Owner: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Operations + Finance + Clinical Management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61475" y="463639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9495A">
              <a:alpha val="5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661475" y="4896545"/>
            <a:ext cx="10868745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Success Measures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61475" y="5334397"/>
            <a:ext cx="10868745" cy="1056481"/>
          </a:xfrm>
          <a:prstGeom prst="roundRect">
            <a:avLst>
              <a:gd name="adj" fmla="val 2128"/>
            </a:avLst>
          </a:prstGeom>
          <a:solidFill>
            <a:srgbClr val="EAE8F3"/>
          </a:solidFill>
          <a:ln/>
        </p:spPr>
      </p:sp>
      <p:sp>
        <p:nvSpPr>
          <p:cNvPr id="18" name="Shape 13"/>
          <p:cNvSpPr/>
          <p:nvPr/>
        </p:nvSpPr>
        <p:spPr>
          <a:xfrm>
            <a:off x="661475" y="5334397"/>
            <a:ext cx="3622882" cy="528241"/>
          </a:xfrm>
          <a:custGeom>
            <a:avLst/>
            <a:gdLst/>
            <a:ahLst/>
            <a:cxnLst/>
            <a:rect l="l" t="t" r="r" b="b"/>
            <a:pathLst>
              <a:path w="3622882" h="528241">
                <a:moveTo>
                  <a:pt x="18736" y="0"/>
                </a:moveTo>
                <a:lnTo>
                  <a:pt x="3622882" y="0"/>
                </a:lnTo>
                <a:lnTo>
                  <a:pt x="3622882" y="528241"/>
                </a:lnTo>
                <a:lnTo>
                  <a:pt x="0" y="528241"/>
                </a:lnTo>
                <a:lnTo>
                  <a:pt x="0" y="18736"/>
                </a:lnTo>
                <a:arcTo hR="18736" wR="18736" stAng="10800000" swAng="5400000"/>
                <a:close/>
              </a:path>
            </a:pathLst>
          </a:custGeom>
          <a:solidFill>
            <a:srgbClr val="EAE8F3"/>
          </a:solidFill>
          <a:ln/>
        </p:spPr>
      </p:sp>
      <p:sp>
        <p:nvSpPr>
          <p:cNvPr id="19" name="Text 14"/>
          <p:cNvSpPr/>
          <p:nvPr/>
        </p:nvSpPr>
        <p:spPr>
          <a:xfrm>
            <a:off x="811291" y="5484217"/>
            <a:ext cx="33232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Billing-data correction rate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284357" y="5334397"/>
            <a:ext cx="3622882" cy="528241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21" name="Shape 16"/>
          <p:cNvSpPr/>
          <p:nvPr/>
        </p:nvSpPr>
        <p:spPr>
          <a:xfrm>
            <a:off x="4284357" y="5334397"/>
            <a:ext cx="19050" cy="528241"/>
          </a:xfrm>
          <a:prstGeom prst="roundRect">
            <a:avLst>
              <a:gd name="adj" fmla="val 49999"/>
            </a:avLst>
          </a:prstGeom>
          <a:solidFill>
            <a:srgbClr val="D0CED9"/>
          </a:solidFill>
          <a:ln/>
        </p:spPr>
      </p:sp>
      <p:sp>
        <p:nvSpPr>
          <p:cNvPr id="22" name="Text 17"/>
          <p:cNvSpPr/>
          <p:nvPr/>
        </p:nvSpPr>
        <p:spPr>
          <a:xfrm>
            <a:off x="4434173" y="5484217"/>
            <a:ext cx="33232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Length of Stay trends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907239" y="5334397"/>
            <a:ext cx="3622882" cy="528241"/>
          </a:xfrm>
          <a:custGeom>
            <a:avLst/>
            <a:gdLst/>
            <a:ahLst/>
            <a:cxnLst/>
            <a:rect l="l" t="t" r="r" b="b"/>
            <a:pathLst>
              <a:path w="3622882" h="528241">
                <a:moveTo>
                  <a:pt x="0" y="0"/>
                </a:moveTo>
                <a:lnTo>
                  <a:pt x="3604146" y="0"/>
                </a:lnTo>
                <a:arcTo hR="18736" wR="18736" stAng="16200000" swAng="5400000"/>
                <a:lnTo>
                  <a:pt x="3622882" y="528241"/>
                </a:lnTo>
                <a:lnTo>
                  <a:pt x="0" y="528241"/>
                </a:lnTo>
                <a:lnTo>
                  <a:pt x="0" y="0"/>
                </a:lnTo>
                <a:close/>
              </a:path>
            </a:pathLst>
          </a:custGeom>
          <a:solidFill>
            <a:srgbClr val="EAE8F3"/>
          </a:solidFill>
          <a:ln/>
        </p:spPr>
      </p:sp>
      <p:sp>
        <p:nvSpPr>
          <p:cNvPr id="24" name="Shape 19"/>
          <p:cNvSpPr/>
          <p:nvPr/>
        </p:nvSpPr>
        <p:spPr>
          <a:xfrm>
            <a:off x="7907239" y="5334397"/>
            <a:ext cx="19050" cy="528241"/>
          </a:xfrm>
          <a:prstGeom prst="roundRect">
            <a:avLst>
              <a:gd name="adj" fmla="val 49999"/>
            </a:avLst>
          </a:prstGeom>
          <a:solidFill>
            <a:srgbClr val="D0CED9"/>
          </a:solidFill>
          <a:ln/>
        </p:spPr>
      </p:sp>
      <p:sp>
        <p:nvSpPr>
          <p:cNvPr id="25" name="Text 20"/>
          <p:cNvSpPr/>
          <p:nvPr/>
        </p:nvSpPr>
        <p:spPr>
          <a:xfrm>
            <a:off x="8057055" y="5484217"/>
            <a:ext cx="33232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Bed utilization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61475" y="5862638"/>
            <a:ext cx="5434273" cy="528241"/>
          </a:xfrm>
          <a:custGeom>
            <a:avLst/>
            <a:gdLst/>
            <a:ahLst/>
            <a:cxnLst/>
            <a:rect l="l" t="t" r="r" b="b"/>
            <a:pathLst>
              <a:path w="5434273" h="528241">
                <a:moveTo>
                  <a:pt x="0" y="0"/>
                </a:moveTo>
                <a:lnTo>
                  <a:pt x="5434273" y="0"/>
                </a:lnTo>
                <a:lnTo>
                  <a:pt x="5434273" y="528241"/>
                </a:lnTo>
                <a:lnTo>
                  <a:pt x="18736" y="528241"/>
                </a:lnTo>
                <a:arcTo hR="18736" wR="18736" stAng="5400000" swAng="5400000"/>
                <a:lnTo>
                  <a:pt x="0" y="0"/>
                </a:lnTo>
                <a:close/>
              </a:path>
            </a:pathLst>
          </a:custGeom>
          <a:solidFill>
            <a:srgbClr val="EAE8F3"/>
          </a:solidFill>
          <a:ln/>
        </p:spPr>
      </p:sp>
      <p:sp>
        <p:nvSpPr>
          <p:cNvPr id="27" name="Shape 22"/>
          <p:cNvSpPr/>
          <p:nvPr/>
        </p:nvSpPr>
        <p:spPr>
          <a:xfrm>
            <a:off x="661475" y="5862638"/>
            <a:ext cx="5434273" cy="19050"/>
          </a:xfrm>
          <a:prstGeom prst="roundRect">
            <a:avLst>
              <a:gd name="adj" fmla="val 49999"/>
            </a:avLst>
          </a:prstGeom>
          <a:solidFill>
            <a:srgbClr val="D0CED9"/>
          </a:solidFill>
          <a:ln/>
        </p:spPr>
      </p:sp>
      <p:sp>
        <p:nvSpPr>
          <p:cNvPr id="28" name="Text 23"/>
          <p:cNvSpPr/>
          <p:nvPr/>
        </p:nvSpPr>
        <p:spPr>
          <a:xfrm>
            <a:off x="811291" y="6012458"/>
            <a:ext cx="51346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Patient volume by condition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095748" y="5862638"/>
            <a:ext cx="5434373" cy="528241"/>
          </a:xfrm>
          <a:custGeom>
            <a:avLst/>
            <a:gdLst/>
            <a:ahLst/>
            <a:cxnLst/>
            <a:rect l="l" t="t" r="r" b="b"/>
            <a:pathLst>
              <a:path w="5434373" h="528241">
                <a:moveTo>
                  <a:pt x="0" y="0"/>
                </a:moveTo>
                <a:lnTo>
                  <a:pt x="5434373" y="0"/>
                </a:lnTo>
                <a:lnTo>
                  <a:pt x="5434373" y="509504"/>
                </a:lnTo>
                <a:arcTo hR="18736" wR="18736" stAng="0" swAng="5400000"/>
                <a:lnTo>
                  <a:pt x="0" y="528241"/>
                </a:lnTo>
                <a:lnTo>
                  <a:pt x="0" y="0"/>
                </a:lnTo>
                <a:close/>
              </a:path>
            </a:pathLst>
          </a:custGeom>
          <a:solidFill>
            <a:srgbClr val="EAE8F3"/>
          </a:solidFill>
          <a:ln/>
        </p:spPr>
      </p:sp>
      <p:sp>
        <p:nvSpPr>
          <p:cNvPr id="30" name="Shape 25"/>
          <p:cNvSpPr/>
          <p:nvPr/>
        </p:nvSpPr>
        <p:spPr>
          <a:xfrm>
            <a:off x="6095748" y="5862638"/>
            <a:ext cx="19050" cy="528241"/>
          </a:xfrm>
          <a:prstGeom prst="roundRect">
            <a:avLst>
              <a:gd name="adj" fmla="val 49999"/>
            </a:avLst>
          </a:prstGeom>
          <a:solidFill>
            <a:srgbClr val="D0CED9"/>
          </a:solidFill>
          <a:ln/>
        </p:spPr>
      </p:sp>
      <p:sp>
        <p:nvSpPr>
          <p:cNvPr id="31" name="Shape 26"/>
          <p:cNvSpPr/>
          <p:nvPr/>
        </p:nvSpPr>
        <p:spPr>
          <a:xfrm>
            <a:off x="6095748" y="5862638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D0CED9"/>
          </a:solidFill>
          <a:ln/>
        </p:spPr>
      </p:sp>
      <p:sp>
        <p:nvSpPr>
          <p:cNvPr id="32" name="Text 27"/>
          <p:cNvSpPr/>
          <p:nvPr/>
        </p:nvSpPr>
        <p:spPr>
          <a:xfrm>
            <a:off x="6245565" y="6012458"/>
            <a:ext cx="51347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Billing by condition &amp; provider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2026-09-11T13:11:52Z</dcterms:created>
  <dcterms:modified xsi:type="dcterms:W3CDTF">2026-09-11T13:11:52Z</dcterms:modified>
</cp:coreProperties>
</file>